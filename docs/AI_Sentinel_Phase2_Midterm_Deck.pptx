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ln w="31750">
              <a:solidFill>
                <a:srgbClr val="2DD4BF"/>
              </a:solidFill>
            </a:ln>
          </c:spPr>
          <c:dLbls>
            <c:numFmt formatCode="0&quot;%&quot;" sourceLinked="0"/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Phase 1</c:v>
                </c:pt>
                <c:pt idx="1">
                  <c:v>Design</c:v>
                </c:pt>
                <c:pt idx="2">
                  <c:v>Backend</c:v>
                </c:pt>
                <c:pt idx="3">
                  <c:v>AI Analysis</c:v>
                </c:pt>
                <c:pt idx="4">
                  <c:v>Evidence</c:v>
                </c:pt>
                <c:pt idx="5">
                  <c:v>Demo Ready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38</c:v>
                </c:pt>
                <c:pt idx="2">
                  <c:v>58</c:v>
                </c:pt>
                <c:pt idx="3">
                  <c:v>74</c:v>
                </c:pt>
                <c:pt idx="4">
                  <c:v>88</c:v>
                </c:pt>
                <c:pt idx="5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AI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Phase 2 Mid-Term Presentation | The project that turns camera noise into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577840" cy="7772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2300" b="1">
                <a:solidFill>
                  <a:srgbClr val="F3F7FF"/>
                </a:solidFill>
                <a:latin typeface="Arial"/>
              </a:rPr>
              <a:t>Deep Learning-Based Real-Time Physical Violence Detection for Intelligent Surveillance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93392"/>
            <a:ext cx="5212080" cy="9144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2DD4BF"/>
                </a:solidFill>
                <a:latin typeface="Arial"/>
              </a:rPr>
              <a:t>من مراقبة سلبية إلى إنذار حي ودليل قابل للاسترجاع خلال ثوانٍ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834640"/>
            <a:ext cx="5120640" cy="13716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AB8CE"/>
                </a:solidFill>
                <a:latin typeface="Arial"/>
              </a:rPr>
              <a:t>Group G-9</a:t>
            </a:r>
          </a:p>
          <a:p>
            <a:pPr algn="r"/>
            <a:r>
              <a:rPr sz="1400" b="0">
                <a:solidFill>
                  <a:srgbClr val="AAB8CE"/>
                </a:solidFill>
                <a:latin typeface="Arial"/>
              </a:rPr>
              <a:t>Marwan Masri | Abdulaziz AlHazmi | Saleh Hardi | Mohannad Moafa | Wael Alfaifi</a:t>
            </a:r>
          </a:p>
          <a:p>
            <a:pPr algn="r"/>
            <a:r>
              <a:rPr sz="1400" b="0">
                <a:solidFill>
                  <a:srgbClr val="AAB8CE"/>
                </a:solidFill>
                <a:latin typeface="Arial"/>
              </a:rPr>
              <a:t>Supervisor: Dr. Abdoh Jabbari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051560"/>
            <a:ext cx="4160520" cy="3977639"/>
          </a:xfrm>
          <a:prstGeom prst="roundRect">
            <a:avLst/>
          </a:prstGeom>
          <a:solidFill>
            <a:srgbClr val="0E1626"/>
          </a:solidFill>
          <a:ln>
            <a:solidFill>
              <a:srgbClr val="F59E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[ضع هنا صورة]
صورة الغلاف المقترحة: واجهة المراقبة أو لقطة من الفيديو الحي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0789920" cy="5029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59E0B"/>
                </a:solidFill>
                <a:latin typeface="Arial"/>
              </a:rPr>
              <a:t>الرسالة الأساسية: إذا حدث شيء، النظام لا يكتفي بالرؤية، بل يفهم ويُنبّه ويؤرشف ويُوثّق.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The problem behind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3657600" cy="1234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143000"/>
            <a:ext cx="332841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المشكلة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435608"/>
            <a:ext cx="3328416" cy="7772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المراقبة البشرية تتعب، وتتأخر في ملاحظة الحوادث، خصوصًا عندما يكون عدد الشاشات كبيرًا أو الحدث سريعًا.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3657600" cy="1234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60320"/>
            <a:ext cx="332841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الخسارة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52928"/>
            <a:ext cx="3328416" cy="7772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تأخر التنبيه يعني وقتًا ضائعًا، ودليلًا أقل، واستجابة أضعف.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657600" cy="123444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977640"/>
            <a:ext cx="332841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الفرصة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270248"/>
            <a:ext cx="3328416" cy="7772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الذكاء الاصطناعي يحول الكاميرا من جهاز تسجيل إلى جهاز فهم واستجابة.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143000"/>
            <a:ext cx="6949440" cy="4251960"/>
          </a:xfrm>
          <a:prstGeom prst="roundRect">
            <a:avLst/>
          </a:prstGeom>
          <a:solidFill>
            <a:srgbClr val="0E1626"/>
          </a:solidFill>
          <a:ln>
            <a:solidFill>
              <a:srgbClr val="F59E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[ضع هنا صورة]
صورة مطلوبة: غرفة مراقبة أو كاميرا أمنية أو مشهد surveillance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440680"/>
            <a:ext cx="6492240" cy="4114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2DD4BF"/>
                </a:solidFill>
                <a:latin typeface="Arial"/>
              </a:rPr>
              <a:t>فكرة المشروع: ربط المشاهدة بالتنبيه بالأدلة بدل الاكتفاء بالتسجيل.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What AI Sentinel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A compact pipeline with real-time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93392" cy="1874519"/>
          </a:xfrm>
          <a:prstGeom prst="roundRect">
            <a:avLst/>
          </a:prstGeom>
          <a:solidFill>
            <a:srgbClr val="121C30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572768"/>
            <a:ext cx="640080" cy="64008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00784"/>
            <a:ext cx="640080" cy="16459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59152"/>
            <a:ext cx="1700784" cy="25603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Video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97480"/>
            <a:ext cx="1783080" cy="4572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8CE"/>
                </a:solidFill>
                <a:latin typeface="Arial"/>
              </a:rPr>
              <a:t>كاميرا أو ملف فيديو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17320"/>
            <a:ext cx="1993392" cy="1874519"/>
          </a:xfrm>
          <a:prstGeom prst="roundRect">
            <a:avLst/>
          </a:prstGeom>
          <a:solidFill>
            <a:srgbClr val="121C30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9000" y="1572768"/>
            <a:ext cx="640080" cy="64008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700784"/>
            <a:ext cx="640080" cy="16459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359152"/>
            <a:ext cx="1700784" cy="25603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Frame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697480"/>
            <a:ext cx="1783080" cy="4572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8CE"/>
                </a:solidFill>
                <a:latin typeface="Arial"/>
              </a:rPr>
              <a:t>نافذة 32 إطار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417320"/>
            <a:ext cx="1993392" cy="1874519"/>
          </a:xfrm>
          <a:prstGeom prst="roundRect">
            <a:avLst/>
          </a:prstGeom>
          <a:solidFill>
            <a:srgbClr val="121C30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1572768"/>
            <a:ext cx="640080" cy="64008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700784"/>
            <a:ext cx="640080" cy="16459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359152"/>
            <a:ext cx="1700784" cy="25603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AI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2697480"/>
            <a:ext cx="1783080" cy="4572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8CE"/>
                </a:solidFill>
                <a:latin typeface="Arial"/>
              </a:rPr>
              <a:t>كشف العنف + الحركة + السلاح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417320"/>
            <a:ext cx="1993392" cy="1874519"/>
          </a:xfrm>
          <a:prstGeom prst="roundRect">
            <a:avLst/>
          </a:prstGeom>
          <a:solidFill>
            <a:srgbClr val="121C30"/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09560" y="1572768"/>
            <a:ext cx="640080" cy="64008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1700784"/>
            <a:ext cx="640080" cy="16459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359152"/>
            <a:ext cx="1700784" cy="25603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Threat 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2697480"/>
            <a:ext cx="1783080" cy="4572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8CE"/>
                </a:solidFill>
                <a:latin typeface="Arial"/>
              </a:rPr>
              <a:t>دمج الإشارات في درجة واحدة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1417320"/>
            <a:ext cx="1993392" cy="1874519"/>
          </a:xfrm>
          <a:prstGeom prst="roundRect">
            <a:avLst/>
          </a:prstGeom>
          <a:solidFill>
            <a:srgbClr val="121C30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9840" y="1572768"/>
            <a:ext cx="64008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1700784"/>
            <a:ext cx="640080" cy="16459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0344" y="2359152"/>
            <a:ext cx="1700784" cy="256032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768" y="2697480"/>
            <a:ext cx="1783080" cy="4572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8CE"/>
                </a:solidFill>
                <a:latin typeface="Arial"/>
              </a:rPr>
              <a:t>Alert + Evidence + PDF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069080"/>
            <a:ext cx="10972800" cy="82296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F59E0B"/>
                </a:solidFill>
                <a:latin typeface="Arial"/>
              </a:rPr>
              <a:t>التميّز هنا ليس في الاكتشاف فقط، بل في تحويل الحدث إلى قرار: التنبيه، التوثيق، ثم التقرير.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Project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Architecture that can be explained in one minute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rial"/>
              </a:rPr>
              <a:t>فكرة المعمارية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AAB8CE"/>
                </a:solidFill>
                <a:latin typeface="Arial"/>
              </a:rPr>
              <a:t>• مصدر الفيديو يدخل أولًا.</a:t>
            </a:r>
          </a:p>
          <a:p>
            <a:pPr algn="r"/>
            <a:r>
              <a:rPr sz="1200">
                <a:solidFill>
                  <a:srgbClr val="AAB8CE"/>
                </a:solidFill>
                <a:latin typeface="Arial"/>
              </a:rPr>
              <a:t>• الخادم الخلفي يعالج البث.</a:t>
            </a:r>
          </a:p>
          <a:p>
            <a:pPr algn="r"/>
            <a:r>
              <a:rPr sz="1200">
                <a:solidFill>
                  <a:srgbClr val="AAB8CE"/>
                </a:solidFill>
                <a:latin typeface="Arial"/>
              </a:rPr>
              <a:t>• محرك التحليل يستخرج الإشارة.</a:t>
            </a:r>
          </a:p>
          <a:p>
            <a:pPr algn="r"/>
            <a:r>
              <a:rPr sz="1200">
                <a:solidFill>
                  <a:srgbClr val="AAB8CE"/>
                </a:solidFill>
                <a:latin typeface="Arial"/>
              </a:rPr>
              <a:t>• الواجهة تعرض النتيجة فورًا.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51560"/>
            <a:ext cx="7040880" cy="4069080"/>
          </a:xfrm>
          <a:prstGeom prst="roundRect">
            <a:avLst/>
          </a:prstGeom>
          <a:solidFill>
            <a:srgbClr val="0E1626"/>
          </a:solidFill>
          <a:ln>
            <a:solidFill>
              <a:srgbClr val="F59E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[ضع هنا صورة]
صورة مطلوبة: مخطط Architecture أو screenshot من الواجهة مع أسهم تدفق البيانات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86200"/>
            <a:ext cx="3520440" cy="10058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DD4BF"/>
                </a:solidFill>
                <a:latin typeface="Arial"/>
              </a:rPr>
              <a:t>نقطة العرض: اشرحوا أن النظام مقسّم لوحدات مستقلة، وهذا ما يجعله سهل التطوير والتوسع.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Development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Project growth rate through the real build stages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09728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188720"/>
            <a:ext cx="3291840" cy="10972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280160"/>
            <a:ext cx="296265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قراءة سريعة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572768"/>
            <a:ext cx="2962656" cy="6400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التطور ليس مجرد زيادة في الملفات، بل انتقال من الفكرة إلى المعمارية ثم التحليل ثم التوثيق.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606040"/>
            <a:ext cx="3291840" cy="10972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97480"/>
            <a:ext cx="296265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معلومة قوية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990088"/>
            <a:ext cx="2962656" cy="6400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أكبر قفزة حدثت عندما تحوّل النظام من كشف فقط إلى كشف + دمج تهديد + دليل + تقرير.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023360"/>
            <a:ext cx="3291840" cy="10972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4114800"/>
            <a:ext cx="296265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تفسير الرسم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4407408"/>
            <a:ext cx="2962656" cy="6400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كل مرحلة رفعت قدرة النظام التحليلية وليس فقط شكله الخارجي.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Analytical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How the software became smarter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3566160" cy="45262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143000"/>
            <a:ext cx="323697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النمط 1: الرؤية الخام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435608"/>
            <a:ext cx="3236976" cy="40690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في البداية كان النظام يتعامل مع الفيديو كمشهد واحد. بعدها صار يقرأ تسلسل إطارات بدل لقطة منفصلة.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051560"/>
            <a:ext cx="3566160" cy="45262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43000"/>
            <a:ext cx="323697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النمط 2: الفهم الزمني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35608"/>
            <a:ext cx="3236976" cy="40690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نافذة 32 إطارًا جعلت التحليل يلتقط الحركة المتسلسلة، وليس فقط صورة ثابتة.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051560"/>
            <a:ext cx="3566160" cy="452628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1143000"/>
            <a:ext cx="323697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النمط 3: الدمج الذكي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1435608"/>
            <a:ext cx="3236976" cy="40690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تمت إضافة Threat Fusion وWeapon Signal وEvidence Ledger، فصار القرار أقرب للتوثيق الأمني لا للتصنيف فقط.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40680"/>
            <a:ext cx="10972800" cy="4114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59E0B"/>
                </a:solidFill>
                <a:latin typeface="Arial"/>
              </a:rPr>
              <a:t>الجملة المثيرة: النظام لم يتعلم كيف يرى فقط، بل كيف يفرز الضجيج من الخطر.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Replace these placeholders with your real captures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3611880" cy="2148840"/>
          </a:xfrm>
          <a:prstGeom prst="roundRect">
            <a:avLst/>
          </a:prstGeom>
          <a:solidFill>
            <a:srgbClr val="0E1626"/>
          </a:solidFill>
          <a:ln>
            <a:solidFill>
              <a:srgbClr val="F59E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[ضع هنا صورة]
لقطة شاشة للفيديو الحي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611880" cy="2148840"/>
          </a:xfrm>
          <a:prstGeom prst="roundRect">
            <a:avLst/>
          </a:prstGeom>
          <a:solidFill>
            <a:srgbClr val="0E1626"/>
          </a:solidFill>
          <a:ln>
            <a:solidFill>
              <a:srgbClr val="F59E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[ضع هنا صورة]
لقطة التنبيه داخل Alert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005840"/>
            <a:ext cx="3611880" cy="2148840"/>
          </a:xfrm>
          <a:prstGeom prst="roundRect">
            <a:avLst/>
          </a:prstGeom>
          <a:solidFill>
            <a:srgbClr val="0E1626"/>
          </a:solidFill>
          <a:ln>
            <a:solidFill>
              <a:srgbClr val="F59E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[ضع هنا صورة]
لقطة التقرير PDF أو Evidence Clip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11201400" cy="1417320"/>
          </a:xfrm>
          <a:prstGeom prst="roundRect">
            <a:avLst/>
          </a:prstGeom>
          <a:solidFill>
            <a:srgbClr val="121C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520440"/>
            <a:ext cx="10872216" cy="2743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سيناريو سريع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813048"/>
            <a:ext cx="10872216" cy="9601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AB8CE"/>
                </a:solidFill>
                <a:latin typeface="Arial"/>
              </a:rPr>
              <a:t>1) نفتح الواجهة  2) نشغّل المصدر  3) يظهر التنبيه  4) نفتح الحادث  5) ننزّل التقرير والدليل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20640"/>
            <a:ext cx="10972800" cy="5029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AB8CE"/>
                </a:solidFill>
                <a:latin typeface="Arial"/>
              </a:rPr>
              <a:t>إذا لم تدعم الكاميرا البث المباشر، نستخدم فيديو ثابت احتياطي مع شرح أن التكامل الحقيقي جاهز للكاميرات القياسية.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What Judges Care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How we win the rubric, not just the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246120" cy="1371600"/>
          </a:xfrm>
          <a:prstGeom prst="roundRect">
            <a:avLst/>
          </a:prstGeom>
          <a:solidFill>
            <a:srgbClr val="121C30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2926080" cy="2286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2926080" cy="5486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AB8CE"/>
                </a:solidFill>
                <a:latin typeface="Arial"/>
              </a:rPr>
              <a:t>Architecture +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88720"/>
            <a:ext cx="3246120" cy="1371600"/>
          </a:xfrm>
          <a:prstGeom prst="roundRect">
            <a:avLst/>
          </a:prstGeom>
          <a:solidFill>
            <a:srgbClr val="121C30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280160"/>
            <a:ext cx="2926080" cy="2286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1600200"/>
            <a:ext cx="2926080" cy="5486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AB8CE"/>
                </a:solidFill>
                <a:latin typeface="Arial"/>
              </a:rPr>
              <a:t>Real code +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188720"/>
            <a:ext cx="3246120" cy="1371600"/>
          </a:xfrm>
          <a:prstGeom prst="roundRect">
            <a:avLst/>
          </a:prstGeom>
          <a:solidFill>
            <a:srgbClr val="121C30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280160"/>
            <a:ext cx="2926080" cy="2286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2926080" cy="5486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AB8CE"/>
                </a:solidFill>
                <a:latin typeface="Arial"/>
              </a:rPr>
              <a:t>Live video +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3246120" cy="1371600"/>
          </a:xfrm>
          <a:prstGeom prst="roundRect">
            <a:avLst/>
          </a:prstGeom>
          <a:solidFill>
            <a:srgbClr val="121C3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08960"/>
            <a:ext cx="2926080" cy="2286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Originality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2926080" cy="5486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AB8CE"/>
                </a:solidFill>
                <a:latin typeface="Arial"/>
              </a:rPr>
              <a:t>Fusion +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3017520"/>
            <a:ext cx="3246120" cy="1371600"/>
          </a:xfrm>
          <a:prstGeom prst="roundRect">
            <a:avLst/>
          </a:prstGeom>
          <a:solidFill>
            <a:srgbClr val="121C30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3108960"/>
            <a:ext cx="2926080" cy="2286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3429000"/>
            <a:ext cx="2926080" cy="5486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AB8CE"/>
                </a:solidFill>
                <a:latin typeface="Arial"/>
              </a:rPr>
              <a:t>Problem solved clearly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017520"/>
            <a:ext cx="3246120" cy="1371600"/>
          </a:xfrm>
          <a:prstGeom prst="roundRect">
            <a:avLst/>
          </a:prstGeom>
          <a:solidFill>
            <a:srgbClr val="121C3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108960"/>
            <a:ext cx="2926080" cy="22860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429000"/>
            <a:ext cx="2926080" cy="5486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AB8CE"/>
                </a:solidFill>
                <a:latin typeface="Arial"/>
              </a:rPr>
              <a:t>Firm answers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2DD4BF"/>
                </a:solidFill>
                <a:latin typeface="Arial"/>
              </a:rPr>
              <a:t>الهدف: نخلي اللجنة تشوف مشروعًا مفهومًا، عاملًا، ومقنعًا خلال دقائق قليلة.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100" b="1">
                <a:solidFill>
                  <a:srgbClr val="F3F7FF"/>
                </a:solidFill>
                <a:latin typeface="Arial"/>
              </a:rPr>
              <a:t>Closing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AAB8CE"/>
                </a:solidFill>
                <a:latin typeface="Arial"/>
              </a:rPr>
              <a:t>A memorable 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109728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Arial"/>
              </a:rPr>
              <a:t>نحن لا نراقب الحادث فقط، نحن نحوله إلى ذاكرة رقمية مفهومة، موثقة، وقابلة للاسترجاع.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97480"/>
            <a:ext cx="10241280" cy="73152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2DD4BF"/>
                </a:solidFill>
                <a:latin typeface="Arial"/>
              </a:rPr>
              <a:t>هذا هو الفرق بين نظام يرى، ونظام يفهم، ونظام يثبت ما حدث.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03320"/>
            <a:ext cx="10469880" cy="1508760"/>
          </a:xfrm>
          <a:prstGeom prst="roundRect">
            <a:avLst/>
          </a:prstGeom>
          <a:solidFill>
            <a:srgbClr val="0E1626"/>
          </a:solidFill>
          <a:ln>
            <a:solidFill>
              <a:srgbClr val="F59E0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[ضع هنا صورة]
صورة ختامية مقترحة: لوحة التحكم أو مشهد Evidence/Report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10469880" cy="320040"/>
          </a:xfrm>
          <a:prstGeom prst="rect">
            <a:avLst/>
          </a:prstGeom>
          <a:noFill/>
          <a:ln>
            <a:solidFill>
              <a:srgbClr val="0B122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Final message: AI Sentinel turns surveillance into accountable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28232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AB8CE"/>
                </a:solidFill>
                <a:latin typeface="Arial"/>
              </a:rPr>
              <a:t>AI Sentinel | Phase 2 Mid-Term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